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B84B"/>
                </a:solidFill>
                <a:latin typeface="Aptos"/>
              </a:defRPr>
            </a:pPr>
            <a:r>
              <a:t>SDG 2 | ZERO HUNGER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"/>
              </a:defRPr>
            </a:pPr>
            <a:r>
              <a:t>FoodLoop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E0EFED"/>
                </a:solidFill>
                <a:latin typeface="Aptos"/>
              </a:defRPr>
            </a:pPr>
            <a:r>
              <a:t>Applied AI for evidence-led food rescue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Sector-flow ML benchmark + human-reviewed redistribution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The coordination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A local matching problem: surplus, recipient need, and pickup timing must line 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3746"/>
                </a:solidFill>
                <a:latin typeface="Aptos"/>
              </a:defRPr>
            </a:pPr>
            <a:r>
              <a:t>Donors have limited time to find a suitable recipient.</a:t>
            </a:r>
          </a:p>
          <a:p>
            <a:pPr>
              <a:spcAft>
                <a:spcPts val="1200"/>
              </a:spcAft>
              <a:defRPr sz="2000">
                <a:solidFill>
                  <a:srgbClr val="233746"/>
                </a:solidFill>
                <a:latin typeface="Aptos"/>
              </a:defRPr>
            </a:pPr>
            <a:r>
              <a:t>Recipient capacity and pickup windows change quickly.</a:t>
            </a:r>
          </a:p>
          <a:p>
            <a:pPr>
              <a:spcAft>
                <a:spcPts val="1200"/>
              </a:spcAft>
              <a:defRPr sz="2000">
                <a:solidFill>
                  <a:srgbClr val="233746"/>
                </a:solidFill>
                <a:latin typeface="Aptos"/>
              </a:defRPr>
            </a:pPr>
            <a:r>
              <a:t>Manual calls and messages make timely handoffs hard to coordinate.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8A83"/>
                </a:solidFill>
                <a:latin typeface="Aptos"/>
              </a:defRPr>
            </a:pPr>
            <a:r>
              <a:t>PROJECT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5324B"/>
                </a:solidFill>
                <a:latin typeface="Aptos"/>
              </a:defRPr>
            </a:pPr>
            <a:r>
              <a:t>A ranked, time-aware offer can reduce coordination time and increase completed pickups.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07482"/>
                </a:solidFill>
                <a:latin typeface="Aptos"/>
              </a:defRPr>
            </a:pPr>
            <a:r>
              <a:t>Validate the problem with local donors and recipient coordinators before claiming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How the prototype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Keep the workflow simple and every handoff human-confirmed.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606040" cy="2834640"/>
          </a:xfrm>
          <a:prstGeom prst="roundRect">
            <a:avLst/>
          </a:prstGeom>
          <a:solidFill>
            <a:srgbClr val="EAF4F1"/>
          </a:solidFill>
          <a:ln>
            <a:solidFill>
              <a:srgbClr val="BED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8A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5324B"/>
                </a:solidFill>
                <a:latin typeface="Aptos"/>
              </a:defRPr>
            </a:pPr>
            <a:r>
              <a:t>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3746"/>
                </a:solidFill>
                <a:latin typeface="Aptos"/>
              </a:defRPr>
            </a:pPr>
            <a:r>
              <a:t>Food type, quantity, pickup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28800"/>
            <a:ext cx="2606040" cy="2834640"/>
          </a:xfrm>
          <a:prstGeom prst="roundRect">
            <a:avLst/>
          </a:prstGeom>
          <a:solidFill>
            <a:srgbClr val="EAF4F1"/>
          </a:solidFill>
          <a:ln>
            <a:solidFill>
              <a:srgbClr val="BED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8A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5324B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33375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3746"/>
                </a:solidFill>
                <a:latin typeface="Aptos"/>
              </a:defRPr>
            </a:pPr>
            <a:r>
              <a:t>Eligibility, capacity,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828800"/>
            <a:ext cx="2606040" cy="2834640"/>
          </a:xfrm>
          <a:prstGeom prst="roundRect">
            <a:avLst/>
          </a:prstGeom>
          <a:solidFill>
            <a:srgbClr val="EAF4F1"/>
          </a:solidFill>
          <a:ln>
            <a:solidFill>
              <a:srgbClr val="BED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8A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5324B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3375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3746"/>
                </a:solidFill>
                <a:latin typeface="Aptos"/>
              </a:defRPr>
            </a:pPr>
            <a:r>
              <a:t>Fit, distance, urgency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1828800"/>
            <a:ext cx="2606040" cy="2834640"/>
          </a:xfrm>
          <a:prstGeom prst="roundRect">
            <a:avLst/>
          </a:prstGeom>
          <a:solidFill>
            <a:srgbClr val="EAF4F1"/>
          </a:solidFill>
          <a:ln>
            <a:solidFill>
              <a:srgbClr val="BED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6" y="2057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8A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2651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5324B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333756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3746"/>
                </a:solidFill>
                <a:latin typeface="Aptos"/>
              </a:defRPr>
            </a:pPr>
            <a:r>
              <a:t>Recipient accepts; coordinator checks pickup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AI / ML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Start with an explainable baseline; earn the right to train a model with pilot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MVP: eligibility rules + weighted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Exclude recipients who cannot safely accept the category.</a:t>
            </a:r>
          </a:p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Rank by category fit, capacity fit, distance, and deadline urgency.</a:t>
            </a:r>
          </a:p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Show the factors behind each recommendation.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Offline ML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Ridge regression predicts log1p(FlowAmount kg) in EPA modeled national sector flows.</a:t>
            </a:r>
          </a:p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Validation tunes alpha; test split holds out producing-sector codes.</a:t>
            </a:r>
          </a:p>
          <a:p>
            <a:pPr>
              <a:spcAft>
                <a:spcPts val="1200"/>
              </a:spcAft>
              <a:defRPr sz="1700">
                <a:solidFill>
                  <a:srgbClr val="233746"/>
                </a:solidFill>
                <a:latin typeface="Aptos"/>
              </a:defRPr>
            </a:pPr>
            <a:r>
              <a:t>It does not predict local surplus or recipient acceptance.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Model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EPA 2018 method 2 · hold out complete producing-sector codes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07482"/>
                </a:solidFill>
                <a:latin typeface="Aptos"/>
              </a:defRPr>
            </a:pPr>
            <a:r>
              <a:t>Lower error is better · log1p(kg)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5324B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03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7482"/>
                </a:solidFill>
                <a:latin typeface="Aptos"/>
              </a:defRPr>
            </a:pPr>
            <a:r>
              <a:t>Ridge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057400"/>
            <a:ext cx="1391435" cy="310896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4443" y="207568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324B"/>
                </a:solidFill>
                <a:latin typeface="Aptos"/>
              </a:defRPr>
            </a:pPr>
            <a:r>
              <a:t>0.942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2432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7482"/>
                </a:solidFill>
                <a:latin typeface="Aptos"/>
              </a:defRPr>
            </a:pPr>
            <a:r>
              <a:t>Median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578608"/>
            <a:ext cx="2924673" cy="310896"/>
          </a:xfrm>
          <a:prstGeom prst="rect">
            <a:avLst/>
          </a:prstGeom>
          <a:solidFill>
            <a:srgbClr val="A0B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7681" y="259689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324B"/>
                </a:solidFill>
                <a:latin typeface="Aptos"/>
              </a:defRPr>
            </a:pPr>
            <a:r>
              <a:t>1.980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13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5324B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49039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7482"/>
                </a:solidFill>
                <a:latin typeface="Aptos"/>
              </a:defRPr>
            </a:pPr>
            <a:r>
              <a:t>Ridge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703320"/>
            <a:ext cx="1858201" cy="310896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1209" y="3721607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324B"/>
                </a:solidFill>
                <a:latin typeface="Aptos"/>
              </a:defRPr>
            </a:pPr>
            <a:r>
              <a:t>1.258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702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7482"/>
                </a:solidFill>
                <a:latin typeface="Aptos"/>
              </a:defRPr>
            </a:pPr>
            <a:r>
              <a:t>Median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4224528"/>
            <a:ext cx="3581986" cy="310896"/>
          </a:xfrm>
          <a:prstGeom prst="rect">
            <a:avLst/>
          </a:prstGeom>
          <a:solidFill>
            <a:srgbClr val="A0B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4994" y="424281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324B"/>
                </a:solidFill>
                <a:latin typeface="Aptos"/>
              </a:defRPr>
            </a:pPr>
            <a:r>
              <a:t>2.425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8A83"/>
                </a:solidFill>
                <a:latin typeface="Aptos"/>
              </a:defRPr>
            </a:pPr>
            <a:r>
              <a:t>TEST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7451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5324B"/>
                </a:solidFill>
                <a:latin typeface="Aptos"/>
              </a:defRPr>
            </a:pPr>
            <a:r>
              <a:t>0.730  vs  -0.001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9748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3746"/>
                </a:solidFill>
                <a:latin typeface="Aptos"/>
              </a:defRPr>
            </a:pPr>
            <a:r>
              <a:t>1,642 held-out rows</a:t>
            </a:r>
            <a:br/>
            <a:r>
              <a:t>1,025 producing-sector groups</a:t>
            </a:r>
            <a:br/>
            <a:r>
              <a:t>Best alpha: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07482"/>
                </a:solidFill>
                <a:latin typeface="Aptos"/>
              </a:defRPr>
            </a:pPr>
            <a:r>
              <a:t>Exploratory fit to EPA modeled 2018 flows. This is not a local waste forecast or a donation acceptance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7482"/>
                </a:solidFill>
                <a:latin typeface="Aptos"/>
              </a:defRPr>
            </a:pPr>
            <a:r>
              <a:t>Test metrics are on log1p(FlowAmount in kg); compare only within this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Pilot and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Use a supervised pilot with one donor cluster and one trusted recipient partner.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Rescued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3746"/>
                </a:solidFill>
                <a:latin typeface="Aptos"/>
              </a:defRPr>
            </a:pPr>
            <a:r>
              <a:t>kg or portions in completed handoffs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8745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3746"/>
                </a:solidFill>
                <a:latin typeface="Aptos"/>
              </a:defRPr>
            </a:pPr>
            <a:r>
              <a:t>accepted offers / offers 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3746"/>
                </a:solidFill>
                <a:latin typeface="Aptos"/>
              </a:defRPr>
            </a:pPr>
            <a:r>
              <a:t>completed pickups / accepted offers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Match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33746"/>
                </a:solidFill>
                <a:latin typeface="Aptos"/>
              </a:defRPr>
            </a:pPr>
            <a:r>
              <a:t>minutes to confirmed recipient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07482"/>
                </a:solidFill>
                <a:latin typeface="Aptos"/>
              </a:defRPr>
            </a:pPr>
            <a:r>
              <a:t>Targets are hypotheses. Establish a manual baseline; report counts, dates, and missing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Safety, privacy, and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AI recommends; people decide whether food is safe and whether a handoff is complete.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746"/>
                </a:solidFill>
                <a:latin typeface="Aptos"/>
              </a:defRPr>
            </a:pPr>
            <a:r>
              <a:t>Human checks recipient eligibility, handling conditions, and pickup.</a:t>
            </a:r>
          </a:p>
          <a:p>
            <a:pPr>
              <a:spcAft>
                <a:spcPts val="1200"/>
              </a:spcAft>
              <a:defRPr sz="1800">
                <a:solidFill>
                  <a:srgbClr val="233746"/>
                </a:solidFill>
                <a:latin typeface="Aptos"/>
              </a:defRPr>
            </a:pPr>
            <a:r>
              <a:t>Use synthetic records during development; label them clearly.</a:t>
            </a:r>
          </a:p>
          <a:p>
            <a:pPr>
              <a:spcAft>
                <a:spcPts val="1200"/>
              </a:spcAft>
              <a:defRPr sz="1800">
                <a:solidFill>
                  <a:srgbClr val="233746"/>
                </a:solidFill>
                <a:latin typeface="Aptos"/>
              </a:defRPr>
            </a:pPr>
            <a:r>
              <a:t>Collect minimal operational data and restrict contact-detail access.</a:t>
            </a:r>
          </a:p>
          <a:p>
            <a:pPr>
              <a:spcAft>
                <a:spcPts val="1200"/>
              </a:spcAft>
              <a:defRPr sz="1800">
                <a:solidFill>
                  <a:srgbClr val="233746"/>
                </a:solidFill>
                <a:latin typeface="Aptos"/>
              </a:defRPr>
            </a:pPr>
            <a:r>
              <a:t>Show ranking reasons, allow overrides, and watch for uneven offer distribution.</a:t>
            </a:r>
          </a:p>
          <a:p>
            <a:pPr>
              <a:spcAft>
                <a:spcPts val="1200"/>
              </a:spcAft>
              <a:defRPr sz="1800">
                <a:solidFill>
                  <a:srgbClr val="233746"/>
                </a:solidFill>
                <a:latin typeface="Aptos"/>
              </a:defRPr>
            </a:pPr>
            <a:r>
              <a:t>If data or messaging fails, fall back to coordinator phone / SMS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Four-week student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A manageable scope for a mini applied AI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8A83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2588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3746"/>
                </a:solidFill>
                <a:latin typeface="Aptos"/>
              </a:defRPr>
            </a:pPr>
            <a:r>
              <a:t>Interview partners; map accepted food, capacity, and pickup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414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8A83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41448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3746"/>
                </a:solidFill>
                <a:latin typeface="Aptos"/>
              </a:defRPr>
            </a:pPr>
            <a:r>
              <a:t>Build listing form, rules, ranked offers, and confirmation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57015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8A83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557015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3746"/>
                </a:solidFill>
                <a:latin typeface="Aptos"/>
              </a:defRPr>
            </a:pPr>
            <a:r>
              <a:t>Test synthetic scenarios and edge cases; refine the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725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8A83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672584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33746"/>
                </a:solidFill>
                <a:latin typeface="Aptos"/>
              </a:defRPr>
            </a:pPr>
            <a:r>
              <a:t>Run a supervised pilot only with partner approval; otherwise demo simulation.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324B"/>
                </a:solidFill>
                <a:latin typeface="Aptos"/>
              </a:defRPr>
            </a:pPr>
            <a:r>
              <a:t>Decision gate: partner need confirmed + safe pickup process agreed.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The question to test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Can trusted local partners complete more timely surplus handoffs with less coordination effort?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5324B"/>
                </a:solidFill>
                <a:latin typeface="Aptos"/>
              </a:defRPr>
            </a:pPr>
            <a:r>
              <a:t>Build the smallest workflow that answers that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8A83"/>
                </a:solidFill>
                <a:latin typeface="Aptos"/>
              </a:defRPr>
            </a:pPr>
            <a:r>
              <a:t>Next step: recruit one donor and one recipient partner for discovery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Prototype screenshot: create an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Running local demo · responsive mobile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dloop-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61872"/>
            <a:ext cx="25146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3320" y="182880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324B"/>
                </a:solidFill>
                <a:latin typeface="Aptos"/>
              </a:defRPr>
            </a:pPr>
            <a:r>
              <a:t>Set the food category, quantity, pickup window, and area. The page labels its sample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20040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07482"/>
                </a:solidFill>
                <a:latin typeface="Aptos"/>
              </a:defRPr>
            </a:pPr>
            <a:r>
              <a:t>Sample organizations and offers are fictional. No message is sent and no donation is arranged.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24B"/>
                </a:solidFill>
                <a:latin typeface="Aptos"/>
              </a:defRPr>
            </a:pPr>
            <a:r>
              <a:t>Prototype screenshot: review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7482"/>
                </a:solidFill>
                <a:latin typeface="Aptos"/>
              </a:defRPr>
            </a:pPr>
            <a:r>
              <a:t>Running local demo · responsive mobile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473952"/>
            <a:ext cx="11109960" cy="22860"/>
          </a:xfrm>
          <a:prstGeom prst="rect">
            <a:avLst/>
          </a:prstGeom>
          <a:solidFill>
            <a:srgbClr val="1B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dloop-match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61872"/>
            <a:ext cx="25146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03320" y="182880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324B"/>
                </a:solidFill>
                <a:latin typeface="Aptos"/>
              </a:defRPr>
            </a:pPr>
            <a:r>
              <a:t>Review eligible recipients and the score factors, then prepare a human-confirmed handoff.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200400"/>
            <a:ext cx="7040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07482"/>
                </a:solidFill>
                <a:latin typeface="Aptos"/>
              </a:defRPr>
            </a:pPr>
            <a:r>
              <a:t>Sample organizations and offers are fictional. No message is sent and no donation is arranged.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